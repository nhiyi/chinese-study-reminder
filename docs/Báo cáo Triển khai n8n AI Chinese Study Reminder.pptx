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embeddedFontLst>
    <p:embeddedFont>
      <p:font typeface="Be Vietnam Pro"/>
      <p:bold r:id="rId13"/>
    </p:embeddedFont>
    <p:embeddedFont>
      <p:font typeface="Plus Jakarta Sans"/>
      <p:bold r:id="rId1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4" d="100"/>
          <a:sy n="54" d="100"/>
        </p:scale>
        <p:origin x="1124" y="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762000" y="4212877"/>
            <a:ext cx="10668000" cy="6572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62000" y="1987897"/>
            <a:ext cx="3086100" cy="304800"/>
          </a:xfrm>
          <a:prstGeom prst="roundRect">
            <a:avLst>
              <a:gd name="adj" fmla="val 50000"/>
            </a:avLst>
          </a:prstGeom>
          <a:solidFill>
            <a:srgbClr val="26285F"/>
          </a:solidFill>
          <a:ln w="9525">
            <a:solidFill>
              <a:srgbClr val="4147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62000" y="4212877"/>
            <a:ext cx="1066800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324100" y="4489102"/>
            <a:ext cx="9525" cy="381000"/>
          </a:xfrm>
          <a:prstGeom prst="rect">
            <a:avLst/>
          </a:prstGeom>
          <a:solidFill>
            <a:srgbClr val="FFFFFF">
              <a:alpha val="1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105275" y="4489102"/>
            <a:ext cx="9525" cy="381000"/>
          </a:xfrm>
          <a:prstGeom prst="rect">
            <a:avLst/>
          </a:prstGeom>
          <a:solidFill>
            <a:srgbClr val="FFFFFF">
              <a:alpha val="1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925" y="2073622"/>
            <a:ext cx="171450" cy="1333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62000" y="2521297"/>
            <a:ext cx="11251406" cy="5485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sz="3600" b="1" i="0" u="none">
                <a:solidFill>
                  <a:srgbClr val="FFFFFF"/>
                </a:solidFill>
                <a:latin typeface="Plus Jakarta Sans"/>
              </a:rPr>
              <a:t>AI Chinese Study Reminder trên n8n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3260377"/>
            <a:ext cx="75247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CBD5E1"/>
                </a:solidFill>
                <a:latin typeface="Be Vietnam Pro"/>
              </a:rPr>
              <a:t>Hệ thống nhắc nhở học tiếng Trung tự động hàng ngày tích hợp Google Gemini AI, Telegram Bot và Google Sheets.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045047"/>
            <a:ext cx="287655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A5B4FC"/>
                </a:solidFill>
                <a:latin typeface="Be Vietnam Pro"/>
              </a:rPr>
              <a:t>HƯỚNG DẪN TRIỂN KHAI WORKFLOW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4489102"/>
            <a:ext cx="1571625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94A3B8"/>
                </a:solidFill>
                <a:latin typeface="Be Vietnam Pro"/>
              </a:rPr>
              <a:t>NỀN TẢNG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000" y="4679602"/>
            <a:ext cx="1571625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38BDF8"/>
                </a:solidFill>
                <a:latin typeface="Be Vietnam Pro"/>
              </a:rPr>
              <a:t>n8n Automation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38425" y="4489102"/>
            <a:ext cx="1452562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94A3B8"/>
                </a:solidFill>
                <a:latin typeface="Be Vietnam Pro"/>
              </a:rPr>
              <a:t>AI MODEL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38425" y="4679602"/>
            <a:ext cx="1452562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818CF8"/>
                </a:solidFill>
                <a:latin typeface="Be Vietnam Pro"/>
              </a:rPr>
              <a:t>Google Gemini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19600" y="4489102"/>
            <a:ext cx="2607468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94A3B8"/>
                </a:solidFill>
                <a:latin typeface="Be Vietnam Pro"/>
              </a:rPr>
              <a:t>THỜI GIAN KÍCH HOẠT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19600" y="4679602"/>
            <a:ext cx="2607468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34D399"/>
                </a:solidFill>
                <a:latin typeface="Be Vietnam Pro"/>
              </a:rPr>
              <a:t>22:00 Hàng ngày (GMT+7)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214562"/>
            <a:ext cx="5334000" cy="1019175"/>
          </a:xfrm>
          <a:prstGeom prst="roundRect">
            <a:avLst>
              <a:gd name="adj" fmla="val 747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3386137"/>
            <a:ext cx="5334000" cy="1019175"/>
          </a:xfrm>
          <a:prstGeom prst="roundRect">
            <a:avLst>
              <a:gd name="adj" fmla="val 747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4557712"/>
            <a:ext cx="5334000" cy="1019175"/>
          </a:xfrm>
          <a:prstGeom prst="roundRect">
            <a:avLst>
              <a:gd name="adj" fmla="val 747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09600" y="2214562"/>
            <a:ext cx="38100" cy="1019175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09600" y="3386137"/>
            <a:ext cx="38100" cy="1019175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09600" y="4557712"/>
            <a:ext cx="38100" cy="1019175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8400" y="2085975"/>
            <a:ext cx="5334000" cy="36195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8400" y="2085975"/>
            <a:ext cx="5334000" cy="36195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6300" y="2443162"/>
            <a:ext cx="190500" cy="1714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6300" y="3614737"/>
            <a:ext cx="190500" cy="1714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6300" y="4786312"/>
            <a:ext cx="171450" cy="1714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4F46E5"/>
                </a:solidFill>
                <a:latin typeface="Be Vietnam Pro"/>
              </a:rPr>
              <a:t>TỔNG QUAN GIẢI PHÁP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Mục tiêu &amp; Chức năng Cốt lõi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6300" y="2405062"/>
            <a:ext cx="6350793" cy="219075"/>
          </a:xfrm>
          <a:prstGeom prst="rect">
            <a:avLst/>
          </a:prstGeom>
          <a:noFill/>
        </p:spPr>
        <p:txBody>
          <a:bodyPr wrap="none" lIns="28575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Tạo Lời Nhắc Thân Thiện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6300" y="2681287"/>
            <a:ext cx="493395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Be Vietnam Pro"/>
              </a:rPr>
              <a:t>AI Agent 1 khởi tạo lời nhắn động viên ngắn gọn, gần gũi với phong cách cute.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6300" y="3576637"/>
            <a:ext cx="6350793" cy="219075"/>
          </a:xfrm>
          <a:prstGeom prst="rect">
            <a:avLst/>
          </a:prstGeom>
          <a:noFill/>
        </p:spPr>
        <p:txBody>
          <a:bodyPr wrap="none" lIns="28575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Ghép Từ Vựng Tự Động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6300" y="3852862"/>
            <a:ext cx="493395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Be Vietnam Pro"/>
              </a:rPr>
              <a:t>AI Agent 2 truy xuất 1 từ vựng mới từ Google Sheets, tạo câu ví dụ và tổng hợp nội dung.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6300" y="4748212"/>
            <a:ext cx="6350793" cy="219075"/>
          </a:xfrm>
          <a:prstGeom prst="rect">
            <a:avLst/>
          </a:prstGeom>
          <a:noFill/>
        </p:spPr>
        <p:txBody>
          <a:bodyPr wrap="none" lIns="26670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Gửi &amp; Đồng Bộ Trạng Thái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6300" y="5024437"/>
            <a:ext cx="493395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Be Vietnam Pro"/>
              </a:rPr>
              <a:t>Chuyển tin nhắn qua Telegram và cập nhật trạng thái từ vựng thành Sent trong sheet.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905125"/>
            <a:ext cx="2507456" cy="914400"/>
          </a:xfrm>
          <a:prstGeom prst="roundRect">
            <a:avLst>
              <a:gd name="adj" fmla="val 12500"/>
            </a:avLst>
          </a:prstGeom>
          <a:solidFill>
            <a:srgbClr val="EEF2FF"/>
          </a:solidFill>
          <a:ln w="9525">
            <a:solidFill>
              <a:srgbClr val="C7D2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431381" y="2905125"/>
            <a:ext cx="2507456" cy="914400"/>
          </a:xfrm>
          <a:prstGeom prst="roundRect">
            <a:avLst>
              <a:gd name="adj" fmla="val 12500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253162" y="2905125"/>
            <a:ext cx="2507456" cy="914400"/>
          </a:xfrm>
          <a:prstGeom prst="roundRect">
            <a:avLst>
              <a:gd name="adj" fmla="val 12500"/>
            </a:avLst>
          </a:prstGeom>
          <a:solidFill>
            <a:srgbClr val="FFF7ED"/>
          </a:solidFill>
          <a:ln w="9525">
            <a:solidFill>
              <a:srgbClr val="FED7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9074943" y="2905125"/>
            <a:ext cx="2507456" cy="914400"/>
          </a:xfrm>
          <a:prstGeom prst="roundRect">
            <a:avLst>
              <a:gd name="adj" fmla="val 12500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09600" y="4048125"/>
            <a:ext cx="2495550" cy="914400"/>
          </a:xfrm>
          <a:prstGeom prst="roundRect">
            <a:avLst>
              <a:gd name="adj" fmla="val 12500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3467100" y="4048125"/>
            <a:ext cx="2495550" cy="914400"/>
          </a:xfrm>
          <a:prstGeom prst="roundRect">
            <a:avLst>
              <a:gd name="adj" fmla="val 12500"/>
            </a:avLst>
          </a:prstGeom>
          <a:solidFill>
            <a:srgbClr val="FFF7ED"/>
          </a:solidFill>
          <a:ln w="9525">
            <a:solidFill>
              <a:srgbClr val="FED7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276975" y="4048125"/>
            <a:ext cx="2495550" cy="914400"/>
          </a:xfrm>
          <a:prstGeom prst="roundRect">
            <a:avLst>
              <a:gd name="adj" fmla="val 12500"/>
            </a:avLst>
          </a:prstGeom>
          <a:solidFill>
            <a:srgbClr val="F0F9FF"/>
          </a:solidFill>
          <a:ln w="9525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9086850" y="4048125"/>
            <a:ext cx="2495550" cy="914400"/>
          </a:xfrm>
          <a:prstGeom prst="roundRect">
            <a:avLst>
              <a:gd name="adj" fmla="val 12500"/>
            </a:avLst>
          </a:prstGeom>
          <a:solidFill>
            <a:srgbClr val="FDF2F8"/>
          </a:solidFill>
          <a:ln w="9525">
            <a:solidFill>
              <a:srgbClr val="FBC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1356" y="3295650"/>
            <a:ext cx="85725" cy="1333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3137" y="3295650"/>
            <a:ext cx="85725" cy="1333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74918" y="3295650"/>
            <a:ext cx="85725" cy="1333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19450" y="4438650"/>
            <a:ext cx="133350" cy="1333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76950" y="4438650"/>
            <a:ext cx="85725" cy="13335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86825" y="4438650"/>
            <a:ext cx="85725" cy="13335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4F46E5"/>
                </a:solidFill>
                <a:latin typeface="Be Vietnam Pro"/>
              </a:rPr>
              <a:t>LUỒNG DỮ LIỆU SẢN PHẨM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Kiến trúc Workflow Chi tiết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4761" y="3086100"/>
            <a:ext cx="2777132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i="0" u="none">
                <a:solidFill>
                  <a:srgbClr val="4338CA"/>
                </a:solidFill>
                <a:latin typeface="Be Vietnam Pro"/>
              </a:rPr>
              <a:t>01. TRIGGER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5333" y="3267075"/>
            <a:ext cx="2915989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1E1B4B"/>
                </a:solidFill>
                <a:latin typeface="Plus Jakarta Sans"/>
              </a:rPr>
              <a:t>Schedule Trigger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4761" y="3486150"/>
            <a:ext cx="2777132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0" i="0" u="none">
                <a:solidFill>
                  <a:srgbClr val="64748B"/>
                </a:solidFill>
                <a:latin typeface="Be Vietnam Pro"/>
              </a:rPr>
              <a:t>22:00 Mỗi ngày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96542" y="3086100"/>
            <a:ext cx="2777132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i="0" u="none">
                <a:solidFill>
                  <a:srgbClr val="15803D"/>
                </a:solidFill>
                <a:latin typeface="Be Vietnam Pro"/>
              </a:rPr>
              <a:t>02. AI AGENT 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27114" y="3267075"/>
            <a:ext cx="2915989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14532D"/>
                </a:solidFill>
                <a:latin typeface="Plus Jakarta Sans"/>
              </a:rPr>
              <a:t>Study Reminder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96542" y="3486150"/>
            <a:ext cx="2777132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0" i="0" u="none">
                <a:solidFill>
                  <a:srgbClr val="64748B"/>
                </a:solidFill>
                <a:latin typeface="Be Vietnam Pro"/>
              </a:rPr>
              <a:t>Gemini + Memory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18324" y="3086100"/>
            <a:ext cx="2777132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i="0" u="none">
                <a:solidFill>
                  <a:srgbClr val="C2410C"/>
                </a:solidFill>
                <a:latin typeface="Be Vietnam Pro"/>
              </a:rPr>
              <a:t>03. DATA FETCH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48895" y="3267075"/>
            <a:ext cx="2915989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7C2D12"/>
                </a:solidFill>
                <a:latin typeface="Plus Jakarta Sans"/>
              </a:rPr>
              <a:t>Get Vocab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18324" y="3486150"/>
            <a:ext cx="2777132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0" i="0" u="none">
                <a:solidFill>
                  <a:srgbClr val="64748B"/>
                </a:solidFill>
                <a:latin typeface="Be Vietnam Pro"/>
              </a:rPr>
              <a:t>Status = New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40105" y="3086100"/>
            <a:ext cx="2777132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i="0" u="none">
                <a:solidFill>
                  <a:srgbClr val="15803D"/>
                </a:solidFill>
                <a:latin typeface="Be Vietnam Pro"/>
              </a:rPr>
              <a:t>04. AI AGENT 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70677" y="3267075"/>
            <a:ext cx="2915989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14532D"/>
                </a:solidFill>
                <a:latin typeface="Plus Jakarta Sans"/>
              </a:rPr>
              <a:t>Reminder Manager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40105" y="3486150"/>
            <a:ext cx="2777132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0" i="0" u="none">
                <a:solidFill>
                  <a:srgbClr val="64748B"/>
                </a:solidFill>
                <a:latin typeface="Be Vietnam Pro"/>
              </a:rPr>
              <a:t>Tổng hợp nội dung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6250" y="4229100"/>
            <a:ext cx="2762250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i="0" u="none">
                <a:solidFill>
                  <a:srgbClr val="64748B"/>
                </a:solidFill>
                <a:latin typeface="Be Vietnam Pro"/>
              </a:rPr>
              <a:t>NHÁNH PHỤ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07193" y="4410075"/>
            <a:ext cx="2900362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334155"/>
                </a:solidFill>
                <a:latin typeface="Plus Jakarta Sans"/>
              </a:rPr>
              <a:t>Telegram Trigger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6250" y="4629150"/>
            <a:ext cx="276225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0" i="0" u="none">
                <a:solidFill>
                  <a:srgbClr val="64748B"/>
                </a:solidFill>
                <a:latin typeface="Be Vietnam Pro"/>
              </a:rPr>
              <a:t>Kích hoạt thủ công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333750" y="4229100"/>
            <a:ext cx="2762250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i="0" u="none">
                <a:solidFill>
                  <a:srgbClr val="C2410C"/>
                </a:solidFill>
                <a:latin typeface="Be Vietnam Pro"/>
              </a:rPr>
              <a:t>05. USER DATA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64693" y="4410075"/>
            <a:ext cx="2900362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7C2D12"/>
                </a:solidFill>
                <a:latin typeface="Plus Jakarta Sans"/>
              </a:rPr>
              <a:t>Get Chat ID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333750" y="4629150"/>
            <a:ext cx="276225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0" i="0" u="none">
                <a:solidFill>
                  <a:srgbClr val="64748B"/>
                </a:solidFill>
                <a:latin typeface="Be Vietnam Pro"/>
              </a:rPr>
              <a:t>Đọc từ Sheets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43625" y="4229100"/>
            <a:ext cx="2762250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i="0" u="none">
                <a:solidFill>
                  <a:srgbClr val="0369A1"/>
                </a:solidFill>
                <a:latin typeface="Be Vietnam Pro"/>
              </a:rPr>
              <a:t>06. OUTPUT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074568" y="4410075"/>
            <a:ext cx="2900362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0C4A6E"/>
                </a:solidFill>
                <a:latin typeface="Plus Jakarta Sans"/>
              </a:rPr>
              <a:t>Send Message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43625" y="4629150"/>
            <a:ext cx="276225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0" i="0" u="none">
                <a:solidFill>
                  <a:srgbClr val="64748B"/>
                </a:solidFill>
                <a:latin typeface="Be Vietnam Pro"/>
              </a:rPr>
              <a:t>Gửi qua Telegram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953500" y="4229100"/>
            <a:ext cx="2762250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i="0" u="none">
                <a:solidFill>
                  <a:srgbClr val="BE185D"/>
                </a:solidFill>
                <a:latin typeface="Be Vietnam Pro"/>
              </a:rPr>
              <a:t>07. UPDATE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884443" y="4410075"/>
            <a:ext cx="2900362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831843"/>
                </a:solidFill>
                <a:latin typeface="Plus Jakarta Sans"/>
              </a:rPr>
              <a:t>Update Row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53500" y="4629150"/>
            <a:ext cx="276225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0" i="0" u="none">
                <a:solidFill>
                  <a:srgbClr val="64748B"/>
                </a:solidFill>
                <a:latin typeface="Be Vietnam Pro"/>
              </a:rPr>
              <a:t>Đổi Status = Sent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867025"/>
            <a:ext cx="2571750" cy="2057400"/>
          </a:xfrm>
          <a:prstGeom prst="roundRect">
            <a:avLst>
              <a:gd name="adj" fmla="val 555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409950" y="2867025"/>
            <a:ext cx="2571750" cy="2057400"/>
          </a:xfrm>
          <a:prstGeom prst="roundRect">
            <a:avLst>
              <a:gd name="adj" fmla="val 555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210300" y="2867025"/>
            <a:ext cx="2571750" cy="2057400"/>
          </a:xfrm>
          <a:prstGeom prst="roundRect">
            <a:avLst>
              <a:gd name="adj" fmla="val 555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9010650" y="2867025"/>
            <a:ext cx="2571750" cy="2057400"/>
          </a:xfrm>
          <a:prstGeom prst="roundRect">
            <a:avLst>
              <a:gd name="adj" fmla="val 555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25" y="3143250"/>
            <a:ext cx="457200" cy="4572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8075" y="3143250"/>
            <a:ext cx="457200" cy="4572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8425" y="3143250"/>
            <a:ext cx="457200" cy="4572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48775" y="3143250"/>
            <a:ext cx="457200" cy="4572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1075" y="3276600"/>
            <a:ext cx="190500" cy="1905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76662" y="3267075"/>
            <a:ext cx="200025" cy="2095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81775" y="3276600"/>
            <a:ext cx="190500" cy="1905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382125" y="3276600"/>
            <a:ext cx="190500" cy="1905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4F46E5"/>
                </a:solidFill>
                <a:latin typeface="Be Vietnam Pro"/>
              </a:rPr>
              <a:t>CHUẨN BỊ TRIỂN KHAI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Hạ tầng &amp; Cấu hình Credentials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7725" y="3752850"/>
            <a:ext cx="2750343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n8n Instance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7725" y="4048125"/>
            <a:ext cx="21907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64748B"/>
                </a:solidFill>
                <a:latin typeface="Be Vietnam Pro"/>
              </a:rPr>
              <a:t>Môi trường n8n active có quyền khởi tạo và kích hoạt workflow.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48075" y="3752850"/>
            <a:ext cx="2750343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Telegram Bot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48075" y="4048125"/>
            <a:ext cx="21907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64748B"/>
                </a:solidFill>
                <a:latin typeface="Be Vietnam Pro"/>
              </a:rPr>
              <a:t>Tạo bot qua BotFather và kích hoạt chat trực tiếp ban đầu.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8425" y="3752850"/>
            <a:ext cx="2750343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Gemini API Key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8425" y="4048125"/>
            <a:ext cx="21907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64748B"/>
                </a:solidFill>
                <a:latin typeface="Be Vietnam Pro"/>
              </a:rPr>
              <a:t>Credential Google Gemini API đã kích hoạt quyền gọi model.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48775" y="3752850"/>
            <a:ext cx="2750343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Google Sheets OAuth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48775" y="4048125"/>
            <a:ext cx="219075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64748B"/>
                </a:solidFill>
                <a:latin typeface="Be Vietnam Pro"/>
              </a:rPr>
              <a:t>Quyền kết nối OAuth2 đọc và ghi file spreadsheet Chinese Reminder.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1390650"/>
            <a:ext cx="5334000" cy="5010150"/>
          </a:xfrm>
          <a:prstGeom prst="roundRect">
            <a:avLst>
              <a:gd name="adj" fmla="val 2281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48400" y="1390650"/>
            <a:ext cx="5334000" cy="5010150"/>
          </a:xfrm>
          <a:prstGeom prst="roundRect">
            <a:avLst>
              <a:gd name="adj" fmla="val 2281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286250" y="1638300"/>
            <a:ext cx="1419225" cy="219075"/>
          </a:xfrm>
          <a:prstGeom prst="roundRect">
            <a:avLst>
              <a:gd name="adj" fmla="val 50000"/>
            </a:avLst>
          </a:prstGeom>
          <a:solidFill>
            <a:srgbClr val="E0E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0477500" y="1638300"/>
            <a:ext cx="866775" cy="219075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47725" y="5410200"/>
          <a:ext cx="4848224" cy="752475"/>
        </p:xfrm>
        <a:graphic>
          <a:graphicData uri="http://schemas.openxmlformats.org/drawingml/2006/table">
            <a:tbl>
              <a:tblPr/>
              <a:tblGrid>
                <a:gridCol w="28630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852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6237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1E293B"/>
                          </a:solidFill>
                          <a:latin typeface="Be Vietnam Pro"/>
                        </a:rPr>
                        <a:t>Chat ID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1E293B"/>
                          </a:solidFill>
                          <a:latin typeface="Be Vietnam Pro"/>
                        </a:rPr>
                        <a:t>Status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6238"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1E293B"/>
                          </a:solidFill>
                          <a:latin typeface="monospace"/>
                        </a:rPr>
                        <a:t>123456789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16A34A"/>
                          </a:solidFill>
                          <a:latin typeface="Be Vietnam Pro"/>
                        </a:rPr>
                        <a:t>active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86525" y="5172075"/>
          <a:ext cx="4848222" cy="990600"/>
        </p:xfrm>
        <a:graphic>
          <a:graphicData uri="http://schemas.openxmlformats.org/drawingml/2006/table">
            <a:tbl>
              <a:tblPr/>
              <a:tblGrid>
                <a:gridCol w="6728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81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35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5519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4848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1E293B"/>
                          </a:solidFill>
                          <a:latin typeface="Be Vietnam Pro"/>
                        </a:rPr>
                        <a:t>STT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1E293B"/>
                          </a:solidFill>
                          <a:latin typeface="Be Vietnam Pro"/>
                        </a:rPr>
                        <a:t>TỪ VỰNG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1E293B"/>
                          </a:solidFill>
                          <a:latin typeface="Be Vietnam Pro"/>
                        </a:rPr>
                        <a:t>PINYIN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1E293B"/>
                          </a:solidFill>
                          <a:latin typeface="Be Vietnam Pro"/>
                        </a:rPr>
                        <a:t>NGHĨA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1E293B"/>
                          </a:solidFill>
                          <a:latin typeface="Be Vietnam Pro"/>
                        </a:rPr>
                        <a:t>Status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1E293B"/>
                          </a:solidFill>
                          <a:latin typeface="Be Vietnam Pro"/>
                        </a:rPr>
                        <a:t>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1E293B"/>
                          </a:solidFill>
                          <a:latin typeface="Be Vietnam Pro"/>
                        </a:rPr>
                        <a:t>你好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1E293B"/>
                          </a:solidFill>
                          <a:latin typeface="Be Vietnam Pro"/>
                        </a:rPr>
                        <a:t>nǐ hǎo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1E293B"/>
                          </a:solidFill>
                          <a:latin typeface="Be Vietnam Pro"/>
                        </a:rPr>
                        <a:t>xin chào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D97706"/>
                          </a:solidFill>
                          <a:latin typeface="Be Vietnam Pro"/>
                        </a:rPr>
                        <a:t>New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1E293B"/>
                          </a:solidFill>
                          <a:latin typeface="Be Vietnam Pro"/>
                        </a:rPr>
                        <a:t>2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1E293B"/>
                          </a:solidFill>
                          <a:latin typeface="Be Vietnam Pro"/>
                        </a:rPr>
                        <a:t>谢谢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1E293B"/>
                          </a:solidFill>
                          <a:latin typeface="Be Vietnam Pro"/>
                        </a:rPr>
                        <a:t>xièxie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1E293B"/>
                          </a:solidFill>
                          <a:latin typeface="Be Vietnam Pro"/>
                        </a:rPr>
                        <a:t>cảm ơn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D97706"/>
                          </a:solidFill>
                          <a:latin typeface="Be Vietnam Pro"/>
                        </a:rPr>
                        <a:t>New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4F46E5"/>
                </a:solidFill>
                <a:latin typeface="Be Vietnam Pro"/>
              </a:rPr>
              <a:t>QUẢN LÝ DỮ LIỆU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Cấu trúc File Google Sheets "Chinese Reminder"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7725" y="2019300"/>
            <a:ext cx="6072187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Be Vietnam Pro"/>
              </a:rPr>
              <a:t>Lưu trữ mã Chat ID động để gửi tin nhắn Telegram thay vì cố định giá trị.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86525" y="2019300"/>
            <a:ext cx="495300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Be Vietnam Pro"/>
              </a:rPr>
              <a:t>Lọc dòng đầu tiên có Status = New. Cập nhật thành Sent sau khi gửi thành công.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7725" y="1628775"/>
            <a:ext cx="2212776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1. Sheet1 (Chat ID)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1500" y="1676400"/>
            <a:ext cx="132397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3730A3"/>
                </a:solidFill>
                <a:latin typeface="Be Vietnam Pro"/>
              </a:rPr>
              <a:t>Định danh người nhận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86525" y="1628775"/>
            <a:ext cx="2100262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2. Sheet "Vocab"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72750" y="1676400"/>
            <a:ext cx="7715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166534"/>
                </a:solidFill>
                <a:latin typeface="Be Vietnam Pro"/>
              </a:rPr>
              <a:t>Kho từ vựng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743200"/>
            <a:ext cx="5334000" cy="2305050"/>
          </a:xfrm>
          <a:prstGeom prst="roundRect">
            <a:avLst>
              <a:gd name="adj" fmla="val 6611"/>
            </a:avLst>
          </a:prstGeom>
          <a:solidFill>
            <a:srgbClr val="FAF5FF"/>
          </a:solidFill>
          <a:ln w="9525">
            <a:solidFill>
              <a:srgbClr val="E9D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48400" y="2743200"/>
            <a:ext cx="5334000" cy="2305050"/>
          </a:xfrm>
          <a:prstGeom prst="roundRect">
            <a:avLst>
              <a:gd name="adj" fmla="val 6611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85825" y="3019425"/>
            <a:ext cx="342900" cy="342900"/>
          </a:xfrm>
          <a:prstGeom prst="roundRect">
            <a:avLst>
              <a:gd name="adj" fmla="val 22222"/>
            </a:avLst>
          </a:prstGeom>
          <a:solidFill>
            <a:srgbClr val="933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524625" y="3019425"/>
            <a:ext cx="342900" cy="342900"/>
          </a:xfrm>
          <a:prstGeom prst="roundRect">
            <a:avLst>
              <a:gd name="adj" fmla="val 22222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4F46E5"/>
                </a:solidFill>
                <a:latin typeface="Be Vietnam Pro"/>
              </a:rPr>
              <a:t>CẤU HÌNH TRÍ TUỆ NHÂN TẠO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Thiết kế Mô hình AI Dual-Agent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5825" y="3514725"/>
            <a:ext cx="5976937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6B21A8"/>
                </a:solidFill>
                <a:latin typeface="Be Vietnam Pro"/>
              </a:rPr>
              <a:t>Nhiệm vụ: Tạo lời nhắc khởi động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24625" y="3514725"/>
            <a:ext cx="566737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66534"/>
                </a:solidFill>
                <a:latin typeface="Be Vietnam Pro"/>
              </a:rPr>
              <a:t>Nhiệm vụ: Tổng hợp nội dung hoàn chỉnh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2950" y="3019425"/>
            <a:ext cx="628650" cy="34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 u="none">
                <a:solidFill>
                  <a:srgbClr val="FFFFFF"/>
                </a:solidFill>
                <a:latin typeface="Be Vietnam Pro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3025" y="3071812"/>
            <a:ext cx="2937867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581C87"/>
                </a:solidFill>
                <a:latin typeface="Plus Jakarta Sans"/>
              </a:rPr>
              <a:t>Chinese Study Reminder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5825" y="3800475"/>
            <a:ext cx="5976937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F172A"/>
                </a:solidFill>
                <a:latin typeface="Be Vietnam Pro"/>
              </a:rPr>
              <a:t>Model:</a:t>
            </a:r>
            <a:r>
              <a:rPr sz="1050" b="0" i="0" u="none">
                <a:solidFill>
                  <a:srgbClr val="475569"/>
                </a:solidFill>
                <a:latin typeface="Be Vietnam Pro"/>
              </a:rPr>
              <a:t> Google Gemini Chat Model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5825" y="4067175"/>
            <a:ext cx="5976937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F172A"/>
                </a:solidFill>
                <a:latin typeface="Be Vietnam Pro"/>
              </a:rPr>
              <a:t>Bộ nhớ:</a:t>
            </a:r>
            <a:r>
              <a:rPr sz="1050" b="0" i="0" u="none">
                <a:solidFill>
                  <a:srgbClr val="475569"/>
                </a:solidFill>
                <a:latin typeface="Be Vietnam Pro"/>
              </a:rPr>
              <a:t> Simple Memory (theo Chat ID)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5825" y="4333875"/>
            <a:ext cx="5976937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F172A"/>
                </a:solidFill>
                <a:latin typeface="Be Vietnam Pro"/>
              </a:rPr>
              <a:t>Phong cách:</a:t>
            </a:r>
            <a:r>
              <a:rPr sz="1050" b="0" i="0" u="none">
                <a:solidFill>
                  <a:srgbClr val="475569"/>
                </a:solidFill>
                <a:latin typeface="Be Vietnam Pro"/>
              </a:rPr>
              <a:t> Ngắn gọn, dễ thương, động viên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5825" y="4600575"/>
            <a:ext cx="5976937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F172A"/>
                </a:solidFill>
                <a:latin typeface="Be Vietnam Pro"/>
              </a:rPr>
              <a:t>Đầu ra:</a:t>
            </a:r>
            <a:r>
              <a:rPr sz="1050" b="0" i="0" u="none">
                <a:solidFill>
                  <a:srgbClr val="475569"/>
                </a:solidFill>
                <a:latin typeface="Be Vietnam Pro"/>
              </a:rPr>
              <a:t> Lời nhắn nhắc học tiếng Trung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1750" y="3019425"/>
            <a:ext cx="628650" cy="34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 u="none">
                <a:solidFill>
                  <a:srgbClr val="FFFFFF"/>
                </a:solidFill>
                <a:latin typeface="Be Vietnam Pro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81825" y="3071812"/>
            <a:ext cx="2262782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4532D"/>
                </a:solidFill>
                <a:latin typeface="Plus Jakarta Sans"/>
              </a:rPr>
              <a:t>Reminder Manager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4625" y="3800475"/>
            <a:ext cx="566737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F172A"/>
                </a:solidFill>
                <a:latin typeface="Be Vietnam Pro"/>
              </a:rPr>
              <a:t>Đầu vào:</a:t>
            </a:r>
            <a:r>
              <a:rPr sz="1050" b="0" i="0" u="none">
                <a:solidFill>
                  <a:srgbClr val="475569"/>
                </a:solidFill>
                <a:latin typeface="Be Vietnam Pro"/>
              </a:rPr>
              <a:t> Lời nhắn từ Agent 1 + Data từ Get Vocab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24625" y="4067175"/>
            <a:ext cx="566737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F172A"/>
                </a:solidFill>
                <a:latin typeface="Be Vietnam Pro"/>
              </a:rPr>
              <a:t>Xử lý:</a:t>
            </a:r>
            <a:r>
              <a:rPr sz="1050" b="0" i="0" u="none">
                <a:solidFill>
                  <a:srgbClr val="475569"/>
                </a:solidFill>
                <a:latin typeface="Be Vietnam Pro"/>
              </a:rPr>
              <a:t> Bổ sung Hán tự, Pinyin, Nghĩa &amp; Ví dụ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24625" y="4333875"/>
            <a:ext cx="566737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F172A"/>
                </a:solidFill>
                <a:latin typeface="Be Vietnam Pro"/>
              </a:rPr>
              <a:t>Định dạng:</a:t>
            </a:r>
            <a:r>
              <a:rPr sz="1050" b="0" i="0" u="none">
                <a:solidFill>
                  <a:srgbClr val="475569"/>
                </a:solidFill>
                <a:latin typeface="Be Vietnam Pro"/>
              </a:rPr>
              <a:t> Plain text tối ưu cho Telegram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24625" y="4600575"/>
            <a:ext cx="566737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F172A"/>
                </a:solidFill>
                <a:latin typeface="Be Vietnam Pro"/>
              </a:rPr>
              <a:t>Đầu ra:</a:t>
            </a:r>
            <a:r>
              <a:rPr sz="1050" b="0" i="0" u="none">
                <a:solidFill>
                  <a:srgbClr val="475569"/>
                </a:solidFill>
                <a:latin typeface="Be Vietnam Pro"/>
              </a:rPr>
              <a:t> Tin nhắn hoàn chỉnh gửi người dùng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248400" y="2519362"/>
            <a:ext cx="5334000" cy="1238250"/>
          </a:xfrm>
          <a:prstGeom prst="roundRect">
            <a:avLst>
              <a:gd name="adj" fmla="val 9230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48400" y="3948112"/>
            <a:ext cx="5334000" cy="1323975"/>
          </a:xfrm>
          <a:prstGeom prst="roundRect">
            <a:avLst>
              <a:gd name="adj" fmla="val 8633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448425" y="3262312"/>
            <a:ext cx="4933950" cy="295275"/>
          </a:xfrm>
          <a:prstGeom prst="roundRect">
            <a:avLst>
              <a:gd name="adj" fmla="val 19354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085975"/>
            <a:ext cx="5334000" cy="36195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085975"/>
            <a:ext cx="5334000" cy="36195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8425" y="2757487"/>
            <a:ext cx="171450" cy="1714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8425" y="4186237"/>
            <a:ext cx="171450" cy="1714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4F46E5"/>
                </a:solidFill>
                <a:latin typeface="Be Vietnam Pro"/>
              </a:rPr>
              <a:t>KÊNH TRUYỀN THÔNG &amp; ĐỒNG BỘ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Gửi Tin nhắn Telegram &amp; Cập nhật Dữ liệu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8425" y="2719387"/>
            <a:ext cx="5743575" cy="219075"/>
          </a:xfrm>
          <a:prstGeom prst="rect">
            <a:avLst/>
          </a:prstGeom>
          <a:noFill/>
        </p:spPr>
        <p:txBody>
          <a:bodyPr wrap="none" lIns="24765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284C7"/>
                </a:solidFill>
                <a:latin typeface="Plus Jakarta Sans"/>
              </a:rPr>
              <a:t>Node Telegram: Send a text message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8425" y="3014662"/>
            <a:ext cx="574357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F172A"/>
                </a:solidFill>
                <a:latin typeface="Be Vietnam Pro"/>
              </a:rPr>
              <a:t>Chat ID Expression: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62725" y="3338512"/>
            <a:ext cx="480060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38BDF8"/>
                </a:solidFill>
                <a:latin typeface="monospace"/>
              </a:rPr>
              <a:t>={{ $('Get Chat ID').item.json['Chat ID'] }}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8425" y="4148137"/>
            <a:ext cx="5743575" cy="219075"/>
          </a:xfrm>
          <a:prstGeom prst="rect">
            <a:avLst/>
          </a:prstGeom>
          <a:noFill/>
        </p:spPr>
        <p:txBody>
          <a:bodyPr wrap="none" lIns="24765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6A34A"/>
                </a:solidFill>
                <a:latin typeface="Plus Jakarta Sans"/>
              </a:rPr>
              <a:t>Node Update Row in Sheet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8425" y="4443412"/>
            <a:ext cx="574357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F172A"/>
                </a:solidFill>
                <a:latin typeface="Be Vietnam Pro"/>
              </a:rPr>
              <a:t>Khóa khớp:</a:t>
            </a:r>
            <a:r>
              <a:rPr sz="1050" b="0" i="0" u="none">
                <a:solidFill>
                  <a:srgbClr val="475569"/>
                </a:solidFill>
                <a:latin typeface="Be Vietnam Pro"/>
              </a:rPr>
              <a:t> Column STT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8425" y="4672012"/>
            <a:ext cx="574357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F172A"/>
                </a:solidFill>
                <a:latin typeface="Be Vietnam Pro"/>
              </a:rPr>
              <a:t>Cập nhật Status:</a:t>
            </a:r>
            <a:r>
              <a:rPr sz="1050" b="0" i="0" u="none">
                <a:solidFill>
                  <a:srgbClr val="475569"/>
                </a:solidFill>
                <a:latin typeface="Be Vietnam Pro"/>
              </a:rPr>
              <a:t> "Sent"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8425" y="4900612"/>
            <a:ext cx="574357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F172A"/>
                </a:solidFill>
                <a:latin typeface="Be Vietnam Pro"/>
              </a:rPr>
              <a:t>Cập nhật LastSent:</a:t>
            </a:r>
            <a:r>
              <a:rPr sz="1050" b="0" i="0" u="none">
                <a:solidFill>
                  <a:srgbClr val="475569"/>
                </a:solidFill>
                <a:latin typeface="Be Vietnam Pro"/>
              </a:rPr>
              <a:t> {{ $now.format('yyyy-MM-dd') }}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4648200"/>
            <a:ext cx="10972800" cy="666750"/>
          </a:xfrm>
          <a:prstGeom prst="roundRect">
            <a:avLst>
              <a:gd name="adj" fmla="val 11428"/>
            </a:avLst>
          </a:prstGeom>
          <a:solidFill>
            <a:srgbClr val="FFFBE3"/>
          </a:solidFill>
          <a:ln w="9525">
            <a:solidFill>
              <a:srgbClr val="FEF0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2552700"/>
            <a:ext cx="2828925" cy="1714500"/>
          </a:xfrm>
          <a:prstGeom prst="roundRect">
            <a:avLst>
              <a:gd name="adj" fmla="val 888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3743325" y="2605980"/>
            <a:ext cx="4705350" cy="1607790"/>
          </a:xfrm>
          <a:prstGeom prst="roundRect">
            <a:avLst>
              <a:gd name="adj" fmla="val 947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753475" y="2552700"/>
            <a:ext cx="2828925" cy="1714500"/>
          </a:xfrm>
          <a:prstGeom prst="roundRect">
            <a:avLst>
              <a:gd name="adj" fmla="val 888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25" y="4886325"/>
            <a:ext cx="190500" cy="1905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4F46E5"/>
                </a:solidFill>
                <a:latin typeface="Be Vietnam Pro"/>
              </a:rPr>
              <a:t>TỰ ĐỘNG HÓA VẬN HÀNH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Cấu hình Schedule Trigger &amp; Múi giờ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90625" y="4810125"/>
            <a:ext cx="1024890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854D0E"/>
                </a:solidFill>
                <a:latin typeface="Be Vietnam Pro"/>
              </a:rPr>
              <a:t>Lưu ý cấu hình:</a:t>
            </a:r>
            <a:r>
              <a:rPr sz="1050" b="0" i="0" u="none">
                <a:solidFill>
                  <a:srgbClr val="854D0E"/>
                </a:solidFill>
                <a:latin typeface="Be Vietnam Pro"/>
              </a:rPr>
              <a:t> Kiểm tra cài đặt Workflow Settings → Timezone trong n8n để đảm bảo Schedule Trigger chạy đúng 22:00 giờ Việt Nam dù server đặt ở múi giờ khác.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8890" y="2867025"/>
            <a:ext cx="2750343" cy="609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4800"/>
              </a:lnSpc>
            </a:pPr>
            <a:r>
              <a:rPr sz="4800" b="1" i="0" u="none">
                <a:solidFill>
                  <a:srgbClr val="4F46E5"/>
                </a:solidFill>
                <a:latin typeface="Be Vietnam Pro"/>
              </a:rPr>
              <a:t>22:00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8890" y="3552825"/>
            <a:ext cx="2750343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0F172A"/>
                </a:solidFill>
                <a:latin typeface="Be Vietnam Pro"/>
              </a:rPr>
              <a:t>Giờ kích hoạt mỗi ngày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8890" y="3781425"/>
            <a:ext cx="2750343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64748B"/>
                </a:solidFill>
                <a:latin typeface="Be Vietnam Pro"/>
              </a:rPr>
              <a:t>Trigger at hour: 22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48062" y="2920305"/>
            <a:ext cx="5095875" cy="5028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3959"/>
              </a:lnSpc>
            </a:pPr>
            <a:r>
              <a:rPr sz="3300" b="1" i="0" u="none">
                <a:solidFill>
                  <a:srgbClr val="0891B2"/>
                </a:solidFill>
                <a:latin typeface="Be Vietnam Pro"/>
              </a:rPr>
              <a:t>Asia/Ho_Chi_Minh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48062" y="3499395"/>
            <a:ext cx="5095875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0F172A"/>
                </a:solidFill>
                <a:latin typeface="Be Vietnam Pro"/>
              </a:rPr>
              <a:t>Múi giờ Workflow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48062" y="3727995"/>
            <a:ext cx="509587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64748B"/>
                </a:solidFill>
                <a:latin typeface="Be Vietnam Pro"/>
              </a:rPr>
              <a:t>Đồng bộ thời gian Việt Nam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92765" y="2867025"/>
            <a:ext cx="2750343" cy="609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4800"/>
              </a:lnSpc>
            </a:pPr>
            <a:r>
              <a:rPr sz="4800" b="1" i="0" u="none">
                <a:solidFill>
                  <a:srgbClr val="16A34A"/>
                </a:solidFill>
                <a:latin typeface="Be Vietnam Pro"/>
              </a:rPr>
              <a:t>Active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92765" y="3552825"/>
            <a:ext cx="2750343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0F172A"/>
                </a:solidFill>
                <a:latin typeface="Be Vietnam Pro"/>
              </a:rPr>
              <a:t>Trạng thái Workflow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92765" y="3781425"/>
            <a:ext cx="2750343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64748B"/>
                </a:solidFill>
                <a:latin typeface="Be Vietnam Pro"/>
              </a:rPr>
              <a:t>Sẵn sàng tự động vận hành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590800"/>
            <a:ext cx="3530500" cy="1209675"/>
          </a:xfrm>
          <a:prstGeom prst="roundRect">
            <a:avLst>
              <a:gd name="adj" fmla="val 944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30600" y="2590800"/>
            <a:ext cx="3530649" cy="1209675"/>
          </a:xfrm>
          <a:prstGeom prst="roundRect">
            <a:avLst>
              <a:gd name="adj" fmla="val 944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51750" y="2590800"/>
            <a:ext cx="3530500" cy="1209675"/>
          </a:xfrm>
          <a:prstGeom prst="roundRect">
            <a:avLst>
              <a:gd name="adj" fmla="val 944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09600" y="3990975"/>
            <a:ext cx="3530500" cy="1209675"/>
          </a:xfrm>
          <a:prstGeom prst="roundRect">
            <a:avLst>
              <a:gd name="adj" fmla="val 944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330600" y="3990975"/>
            <a:ext cx="3530649" cy="1209675"/>
          </a:xfrm>
          <a:prstGeom prst="roundRect">
            <a:avLst>
              <a:gd name="adj" fmla="val 944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051750" y="3990975"/>
            <a:ext cx="3530500" cy="1209675"/>
          </a:xfrm>
          <a:prstGeom prst="roundRect">
            <a:avLst>
              <a:gd name="adj" fmla="val 944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09625" y="2809875"/>
            <a:ext cx="581025" cy="180975"/>
          </a:xfrm>
          <a:prstGeom prst="roundRect">
            <a:avLst>
              <a:gd name="adj" fmla="val 21052"/>
            </a:avLst>
          </a:prstGeom>
          <a:solidFill>
            <a:srgbClr val="E0E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530625" y="2809875"/>
            <a:ext cx="609600" cy="180975"/>
          </a:xfrm>
          <a:prstGeom prst="roundRect">
            <a:avLst>
              <a:gd name="adj" fmla="val 21052"/>
            </a:avLst>
          </a:prstGeom>
          <a:solidFill>
            <a:srgbClr val="E0E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251775" y="2809875"/>
            <a:ext cx="609600" cy="180975"/>
          </a:xfrm>
          <a:prstGeom prst="roundRect">
            <a:avLst>
              <a:gd name="adj" fmla="val 21052"/>
            </a:avLst>
          </a:prstGeom>
          <a:solidFill>
            <a:srgbClr val="E0E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809625" y="4210050"/>
            <a:ext cx="619125" cy="180975"/>
          </a:xfrm>
          <a:prstGeom prst="roundRect">
            <a:avLst>
              <a:gd name="adj" fmla="val 21052"/>
            </a:avLst>
          </a:prstGeom>
          <a:solidFill>
            <a:srgbClr val="E0E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530625" y="4210050"/>
            <a:ext cx="609600" cy="180975"/>
          </a:xfrm>
          <a:prstGeom prst="roundRect">
            <a:avLst>
              <a:gd name="adj" fmla="val 21052"/>
            </a:avLst>
          </a:prstGeom>
          <a:solidFill>
            <a:srgbClr val="E0E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251775" y="4210050"/>
            <a:ext cx="609600" cy="180975"/>
          </a:xfrm>
          <a:prstGeom prst="roundRect">
            <a:avLst>
              <a:gd name="adj" fmla="val 21052"/>
            </a:avLst>
          </a:prstGeom>
          <a:solidFill>
            <a:srgbClr val="E0E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4F46E5"/>
                </a:solidFill>
                <a:latin typeface="Be Vietnam Pro"/>
              </a:rPr>
              <a:t>ĐẢM BẢO CHẤT LƯỢNG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Quy trình Kiểm thử 6 Bước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5825" y="2828925"/>
            <a:ext cx="52387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4F46E5"/>
                </a:solidFill>
                <a:latin typeface="Be Vietnam Pro"/>
              </a:rPr>
              <a:t>BƯỚC 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9625" y="3057525"/>
            <a:ext cx="4108716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Test Agent 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9625" y="3295650"/>
            <a:ext cx="32257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Be Vietnam Pro"/>
              </a:rPr>
              <a:t>Kiểm tra câu nhắc tạo ra ngắn gọn, đúng phong cách cute.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06825" y="2828925"/>
            <a:ext cx="55245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4F46E5"/>
                </a:solidFill>
                <a:latin typeface="Be Vietnam Pro"/>
              </a:rPr>
              <a:t>BƯỚC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30625" y="3057525"/>
            <a:ext cx="4108911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Test Get Vocab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30625" y="3295650"/>
            <a:ext cx="3225849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Be Vietnam Pro"/>
              </a:rPr>
              <a:t>Đảm bảo chỉ lấy 1 từ vựng duy nhất có Status = New.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7975" y="2828925"/>
            <a:ext cx="55245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4F46E5"/>
                </a:solidFill>
                <a:latin typeface="Be Vietnam Pro"/>
              </a:rPr>
              <a:t>BƯỚC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51775" y="3057525"/>
            <a:ext cx="3940224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Test Agent 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51775" y="3295650"/>
            <a:ext cx="32257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Be Vietnam Pro"/>
              </a:rPr>
              <a:t>Xác nhận việc ghép nội dung lời nhắn và từ vựng chính xác.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5825" y="4229100"/>
            <a:ext cx="56197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4F46E5"/>
                </a:solidFill>
                <a:latin typeface="Be Vietnam Pro"/>
              </a:rPr>
              <a:t>BƯỚC 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9625" y="4457700"/>
            <a:ext cx="4108716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Test Telegram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9625" y="4695825"/>
            <a:ext cx="32257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Be Vietnam Pro"/>
              </a:rPr>
              <a:t>Xác nhận tin nhắn xuất hiện chính xác trên ứng dụng Telegram.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06825" y="4229100"/>
            <a:ext cx="55245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4F46E5"/>
                </a:solidFill>
                <a:latin typeface="Be Vietnam Pro"/>
              </a:rPr>
              <a:t>BƯỚC 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30625" y="4457700"/>
            <a:ext cx="4108911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Test Google Sheets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30625" y="4695825"/>
            <a:ext cx="3225849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Be Vietnam Pro"/>
              </a:rPr>
              <a:t>Kiểm tra dòng từ vựng đã đổi Status sang Sent kèm ngày gửi.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27975" y="4229100"/>
            <a:ext cx="55245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4F46E5"/>
                </a:solidFill>
                <a:latin typeface="Be Vietnam Pro"/>
              </a:rPr>
              <a:t>BƯỚC 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51775" y="4457700"/>
            <a:ext cx="3940224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Test Tự động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51775" y="4695825"/>
            <a:ext cx="32257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Be Vietnam Pro"/>
              </a:rPr>
              <a:t>Activate workflow và kiểm tra lịch chạy thực tế lúc 22:00.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1390650"/>
            <a:ext cx="5334000" cy="5010150"/>
          </a:xfrm>
          <a:prstGeom prst="roundRect">
            <a:avLst>
              <a:gd name="adj" fmla="val 2281"/>
            </a:avLst>
          </a:prstGeom>
          <a:solidFill>
            <a:srgbClr val="1B2335"/>
          </a:solidFill>
          <a:ln w="9525">
            <a:solidFill>
              <a:srgbClr val="272E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48400" y="1390650"/>
            <a:ext cx="5334000" cy="5010150"/>
          </a:xfrm>
          <a:prstGeom prst="roundRect">
            <a:avLst>
              <a:gd name="adj" fmla="val 2281"/>
            </a:avLst>
          </a:prstGeom>
          <a:solidFill>
            <a:srgbClr val="1B2335"/>
          </a:solidFill>
          <a:ln w="9525">
            <a:solidFill>
              <a:srgbClr val="272E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25" y="1666875"/>
            <a:ext cx="171450" cy="1714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6525" y="1666875"/>
            <a:ext cx="171450" cy="1714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6525" y="2014537"/>
            <a:ext cx="104775" cy="1333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6525" y="2281237"/>
            <a:ext cx="104775" cy="1333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6525" y="2547937"/>
            <a:ext cx="104775" cy="1333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6525" y="2814637"/>
            <a:ext cx="104775" cy="1333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818CF8"/>
                </a:solidFill>
                <a:latin typeface="Be Vietnam Pro"/>
              </a:rPr>
              <a:t>XỬ LÝ LỖI &amp; BÀN GIAO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FFFFFF"/>
                </a:solidFill>
                <a:latin typeface="Plus Jakarta Sans"/>
              </a:rPr>
              <a:t>Xử lý Sự cố &amp; Checklist Bàn giao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7725" y="1628775"/>
            <a:ext cx="6375796" cy="219075"/>
          </a:xfrm>
          <a:prstGeom prst="rect">
            <a:avLst/>
          </a:prstGeom>
          <a:noFill/>
        </p:spPr>
        <p:txBody>
          <a:bodyPr wrap="none" lIns="24765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38BDF8"/>
                </a:solidFill>
                <a:latin typeface="Plus Jakarta Sans"/>
              </a:rPr>
              <a:t>Xử lý Lỗi Thường gặp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6525" y="1628775"/>
            <a:ext cx="5705475" cy="219075"/>
          </a:xfrm>
          <a:prstGeom prst="rect">
            <a:avLst/>
          </a:prstGeom>
          <a:noFill/>
        </p:spPr>
        <p:txBody>
          <a:bodyPr wrap="none" lIns="24765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34D399"/>
                </a:solidFill>
                <a:latin typeface="Plus Jakarta Sans"/>
              </a:rPr>
              <a:t>An toàn &amp; Bàn giao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7725" y="2000250"/>
            <a:ext cx="6072187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F43F5E"/>
                </a:solidFill>
                <a:latin typeface="Be Vietnam Pro"/>
              </a:rPr>
              <a:t>Chat ID required:</a:t>
            </a:r>
            <a:r>
              <a:rPr sz="975" b="0" i="0" u="none">
                <a:solidFill>
                  <a:srgbClr val="CBD5E1"/>
                </a:solidFill>
                <a:latin typeface="Be Vietnam Pro"/>
              </a:rPr>
              <a:t> Kiểm tra Get Chat ID và Expression Telegram.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7725" y="2266950"/>
            <a:ext cx="6072187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F43F5E"/>
                </a:solidFill>
                <a:latin typeface="Be Vietnam Pro"/>
              </a:rPr>
              <a:t>Get Vocab nhiều dòng:</a:t>
            </a:r>
            <a:r>
              <a:rPr sz="975" b="0" i="0" u="none">
                <a:solidFill>
                  <a:srgbClr val="CBD5E1"/>
                </a:solidFill>
                <a:latin typeface="Be Vietnam Pro"/>
              </a:rPr>
              <a:t> Bật thuộc tính Return First Match.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7725" y="2533650"/>
            <a:ext cx="6072187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F43F5E"/>
                </a:solidFill>
                <a:latin typeface="Be Vietnam Pro"/>
              </a:rPr>
              <a:t>Gemini API Error:</a:t>
            </a:r>
            <a:r>
              <a:rPr sz="975" b="0" i="0" u="none">
                <a:solidFill>
                  <a:srgbClr val="CBD5E1"/>
                </a:solidFill>
                <a:latin typeface="Be Vietnam Pro"/>
              </a:rPr>
              <a:t> Kiểm tra Quota API Key và Google Gemini Credential.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7725" y="2800350"/>
            <a:ext cx="6072187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F43F5E"/>
                </a:solidFill>
                <a:latin typeface="Be Vietnam Pro"/>
              </a:rPr>
              <a:t>Chạy sai giờ:</a:t>
            </a:r>
            <a:r>
              <a:rPr sz="975" b="0" i="0" u="none">
                <a:solidFill>
                  <a:srgbClr val="CBD5E1"/>
                </a:solidFill>
                <a:latin typeface="Be Vietnam Pro"/>
              </a:rPr>
              <a:t> Đặt Workflow Settings Timezone về Asia/Ho_Chi_Minh.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86525" y="2000250"/>
            <a:ext cx="5705475" cy="152400"/>
          </a:xfrm>
          <a:prstGeom prst="rect">
            <a:avLst/>
          </a:prstGeom>
          <a:noFill/>
        </p:spPr>
        <p:txBody>
          <a:bodyPr wrap="none" lIns="180975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CBD5E1"/>
                </a:solidFill>
                <a:latin typeface="Be Vietnam Pro"/>
              </a:rPr>
              <a:t>Bảo mật Token:</a:t>
            </a:r>
            <a:r>
              <a:rPr sz="975" b="0" i="0" u="none">
                <a:solidFill>
                  <a:srgbClr val="CBD5E1"/>
                </a:solidFill>
                <a:latin typeface="Be Vietnam Pro"/>
              </a:rPr>
              <a:t> Không đưa Bot Token hay API Keys lên GitHub.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86525" y="2266950"/>
            <a:ext cx="5705475" cy="152400"/>
          </a:xfrm>
          <a:prstGeom prst="rect">
            <a:avLst/>
          </a:prstGeom>
          <a:noFill/>
        </p:spPr>
        <p:txBody>
          <a:bodyPr wrap="none" lIns="180975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CBD5E1"/>
                </a:solidFill>
                <a:latin typeface="Be Vietnam Pro"/>
              </a:rPr>
              <a:t>Xác nhận Trạng thái:</a:t>
            </a:r>
            <a:r>
              <a:rPr sz="975" b="0" i="0" u="none">
                <a:solidFill>
                  <a:srgbClr val="CBD5E1"/>
                </a:solidFill>
                <a:latin typeface="Be Vietnam Pro"/>
              </a:rPr>
              <a:t> Chuyển Workflow sang trạng thái Active.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86525" y="2533650"/>
            <a:ext cx="5705475" cy="152400"/>
          </a:xfrm>
          <a:prstGeom prst="rect">
            <a:avLst/>
          </a:prstGeom>
          <a:noFill/>
        </p:spPr>
        <p:txBody>
          <a:bodyPr wrap="none" lIns="180975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CBD5E1"/>
                </a:solidFill>
                <a:latin typeface="Be Vietnam Pro"/>
              </a:rPr>
              <a:t>Kiểm tra Dữ liệu:</a:t>
            </a:r>
            <a:r>
              <a:rPr sz="975" b="0" i="0" u="none">
                <a:solidFill>
                  <a:srgbClr val="CBD5E1"/>
                </a:solidFill>
                <a:latin typeface="Be Vietnam Pro"/>
              </a:rPr>
              <a:t> Đảm bảo luôn có từ vựng có Status = New.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86525" y="2800350"/>
            <a:ext cx="5705475" cy="152400"/>
          </a:xfrm>
          <a:prstGeom prst="rect">
            <a:avLst/>
          </a:prstGeom>
          <a:noFill/>
        </p:spPr>
        <p:txBody>
          <a:bodyPr wrap="none" lIns="180975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CBD5E1"/>
                </a:solidFill>
                <a:latin typeface="Be Vietnam Pro"/>
              </a:rPr>
              <a:t>Đồng bộ Chat Bot:</a:t>
            </a:r>
            <a:r>
              <a:rPr sz="975" b="0" i="0" u="none">
                <a:solidFill>
                  <a:srgbClr val="CBD5E1"/>
                </a:solidFill>
                <a:latin typeface="Be Vietnam Pro"/>
              </a:rPr>
              <a:t> Người dùng phải Start Bot Telegram trước.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71500" y="857250"/>
            <a:ext cx="11049000" cy="838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71500" y="168592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71500" y="168592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033462"/>
            <a:ext cx="857250" cy="4762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838325"/>
            <a:ext cx="857250" cy="4762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71500" y="571500"/>
            <a:ext cx="2187773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1E293B"/>
                </a:solidFill>
                <a:latin typeface="Plus Jakarta Sans"/>
              </a:rPr>
              <a:t>Image Sources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66875" y="1000125"/>
            <a:ext cx="1004887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1E293B"/>
                </a:solidFill>
                <a:latin typeface="Be Vietnam Pro"/>
              </a:rPr>
              <a:t>https://img.magnific.com/premium-vector/oriental-language-mobile-app-concept-young-guy-with-translation-hieroglyphs-educational-materials-learning-training-japanese-culture-ethnicity-cartoon-flat-vector-illustration_1002658-659.jpg?semt=ais_hybrid&amp;w=740&amp;q=80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66875" y="1352550"/>
            <a:ext cx="2583656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1E293B"/>
                </a:solidFill>
                <a:latin typeface="Be Vietnam Pro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Be Vietnam Pro"/>
              </a:rPr>
              <a:t>www.magnific.com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66875" y="1881187"/>
            <a:ext cx="7155656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1E293B"/>
                </a:solidFill>
                <a:latin typeface="Be Vietnam Pro"/>
              </a:rPr>
              <a:t>https://core.telegram.org/file/464001858/11318/ahAJjwERIX8.164875/ce1372cbf73e3ea94e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6875" y="2081212"/>
            <a:ext cx="2416968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1E293B"/>
                </a:solidFill>
                <a:latin typeface="Be Vietnam Pro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Be Vietnam Pro"/>
              </a:rPr>
              <a:t>core.telegram.org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972</Words>
  <Application>Microsoft Office PowerPoint</Application>
  <PresentationFormat>Widescreen</PresentationFormat>
  <Paragraphs>154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Plus Jakarta Sans</vt:lpstr>
      <vt:lpstr>Arial</vt:lpstr>
      <vt:lpstr>Calibri</vt:lpstr>
      <vt:lpstr>monospace</vt:lpstr>
      <vt:lpstr>Be Vietnam Pro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nhi ntt</dc:creator>
  <cp:keywords/>
  <dc:description>generated using python-pptx</dc:description>
  <cp:lastModifiedBy>Nhi Nguyễn</cp:lastModifiedBy>
  <cp:revision>2</cp:revision>
  <dcterms:created xsi:type="dcterms:W3CDTF">2013-01-27T09:14:16Z</dcterms:created>
  <dcterms:modified xsi:type="dcterms:W3CDTF">2026-10-05T08:18:10Z</dcterms:modified>
  <cp:category/>
</cp:coreProperties>
</file>